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285F4"/>
              </a:gs>
              <a:gs pos="100000">
                <a:srgbClr val="0F9D5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Google NotebookLM 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〜 生成AIで変わる情報整理・ナレッジ活用の新しいカタチ 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DDDDD"/>
                </a:solidFill>
                <a:latin typeface="Calibri"/>
              </a:defRPr>
            </a:pPr>
            <a:r>
              <a:t>2026年3月  ｜  社内研修資料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4285F4"/>
              </a:gs>
              <a:gs pos="100000">
                <a:srgbClr val="0F9D5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285F4"/>
                </a:solidFill>
                <a:latin typeface="Calibri"/>
              </a:defRPr>
            </a:pPr>
            <a:r>
              <a:t>本日のアジェンダ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6304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NotebookLM とは？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10312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主要な機能紹介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74320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基本的な使い方（4ステップ）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383279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2899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ビジネス活用事例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199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69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NotebookLM の強み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526280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09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料金プラン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66360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303519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利用時の注意点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806439"/>
            <a:ext cx="82296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943600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3238"/>
                </a:solidFill>
                <a:latin typeface="Calibri"/>
              </a:defRPr>
            </a:pPr>
            <a:r>
              <a:t>まとめ &amp; ネクストステップ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NotebookLM 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285F4"/>
                </a:solidFill>
                <a:latin typeface="Calibri"/>
              </a:defRPr>
            </a:pPr>
            <a:r>
              <a:t>Googleが提供するAIナレッジアシスタント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・ユーザーがアップロードした資料だけを情報源として、</a:t>
            </a: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AIが要約・質問応答・分析を行うツール</a:t>
            </a: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・最新のGeminiモデルを搭載</a:t>
            </a: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・100万トークンのコンテキストウィンドウ</a:t>
            </a: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・Googleアカウントがあれば無料で利用開始可能</a:t>
            </a:r>
          </a:p>
          <a:p>
            <a:pPr>
              <a:spcAft>
                <a:spcPts val="48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  → 導入ハードルが非常に低い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64008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6323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4813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238"/>
                </a:solidFill>
                <a:latin typeface="Calibri"/>
              </a:defRPr>
            </a:pPr>
            <a:r>
              <a:t>PDF / Word / テキスト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48840"/>
            <a:ext cx="5029200" cy="64008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14884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6323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585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238"/>
                </a:solidFill>
                <a:latin typeface="Calibri"/>
              </a:defRPr>
            </a:pPr>
            <a:r>
              <a:t>Webサイト /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926080"/>
            <a:ext cx="5029200" cy="64008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92608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63238"/>
                </a:solidFill>
                <a:latin typeface="Calibri"/>
              </a:defRPr>
            </a:pPr>
            <a:r>
              <a:t>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0358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238"/>
                </a:solidFill>
                <a:latin typeface="Calibri"/>
              </a:defRPr>
            </a:pPr>
            <a:r>
              <a:t>YouTube動画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703320"/>
            <a:ext cx="5029200" cy="64008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70332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63238"/>
                </a:solidFill>
                <a:latin typeface="Calibri"/>
              </a:defRPr>
            </a:pPr>
            <a:r>
              <a:t>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81304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238"/>
                </a:solidFill>
                <a:latin typeface="Calibri"/>
              </a:defRPr>
            </a:pPr>
            <a:r>
              <a:t>音声ファイル（MP3等）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480560"/>
            <a:ext cx="5029200" cy="64008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448056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6323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59028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238"/>
                </a:solidFill>
                <a:latin typeface="Calibri"/>
              </a:defRPr>
            </a:pPr>
            <a:r>
              <a:t>Google Workspace連携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257800"/>
            <a:ext cx="5029200" cy="64008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5257800"/>
            <a:ext cx="54864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63238"/>
                </a:solidFill>
                <a:latin typeface="Calibri"/>
              </a:defRPr>
            </a:pPr>
            <a:r>
              <a:t>🖼️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3675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63238"/>
                </a:solidFill>
                <a:latin typeface="Calibri"/>
              </a:defRPr>
            </a:pPr>
            <a:r>
              <a:t>画像ファイル（JPEG/PNG）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主要な機能紹介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Calibri"/>
              </a:defRPr>
            </a:pPr>
            <a:r>
              <a:t>音声解説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(Audio Overview)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AIホスト2人が資料を対話形式で</a:t>
            </a:r>
            <a:br/>
            <a:r>
              <a:t>解説する音声を自動生成。</a:t>
            </a:r>
            <a:br/>
            <a:r>
              <a:t>80言語以上対応。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4747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Calibri"/>
              </a:defRPr>
            </a:pPr>
            <a:r>
              <a:t>動画解説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40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(Video Overview)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資料の要点をビジュアル付き</a:t>
            </a:r>
            <a:br/>
            <a:r>
              <a:t>解説動画として自動生成。</a:t>
            </a:r>
            <a:br/>
            <a:r>
              <a:t>YouTubeやSNS共有にも便利。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24688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Calibri"/>
              </a:defRPr>
            </a:pPr>
            <a:r>
              <a:t>マインドマップ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資料の内容を視覚的に整理。</a:t>
            </a:r>
            <a:br/>
            <a:r>
              <a:t>複雑な情報の関係性を</a:t>
            </a:r>
            <a:br/>
            <a:r>
              <a:t>一目で把握。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4747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Calibri"/>
              </a:defRPr>
            </a:pPr>
            <a:r>
              <a:t>インフォグラフィック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ソース資料を「一目でわかる」</a:t>
            </a:r>
            <a:br/>
            <a:r>
              <a:t>図解に自動変換。</a:t>
            </a:r>
            <a:br/>
            <a:r>
              <a:t>2025年12月追加の新機能。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023360"/>
            <a:ext cx="34747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Calibri"/>
              </a:defRPr>
            </a:pPr>
            <a:r>
              <a:t>スライド生成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983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&amp; エクスポート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57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プロンプト指示で個別スライド</a:t>
            </a:r>
            <a:br/>
            <a:r>
              <a:t>まで微修正可能。PowerPoint</a:t>
            </a:r>
            <a:br/>
            <a:r>
              <a:t>形式でダウンロード可。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023360"/>
            <a:ext cx="3474720" cy="2468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Calibri"/>
              </a:defRPr>
            </a:pPr>
            <a:r>
              <a:t>Deep Research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57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複雑なテーマについて多角的な</a:t>
            </a:r>
            <a:br/>
            <a:r>
              <a:t>調査を自動実行。統合レポート</a:t>
            </a:r>
            <a:br/>
            <a:r>
              <a:t>を数分で生成。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基本的な使い方（4ステップ）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1463040"/>
            <a:ext cx="731520" cy="7315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63238"/>
                </a:solidFill>
                <a:latin typeface="Calibri"/>
              </a:defRPr>
            </a:pPr>
            <a:r>
              <a:t>ノートブック作成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notebooklm.google.com に</a:t>
            </a:r>
            <a:br/>
            <a:r>
              <a:t>アクセスし、新しい</a:t>
            </a:r>
            <a:br/>
            <a:r>
              <a:t>ノートブックを作成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4389120" y="1463040"/>
            <a:ext cx="731520" cy="7315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63238"/>
                </a:solidFill>
                <a:latin typeface="Calibri"/>
              </a:defRPr>
            </a:pPr>
            <a:r>
              <a:t>ソースを追加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PDF、URL、動画、音声</a:t>
            </a:r>
            <a:br/>
            <a:r>
              <a:t>など最大300のソースを</a:t>
            </a:r>
            <a:br/>
            <a:r>
              <a:t>アップロード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1463040"/>
            <a:ext cx="731520" cy="7315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63238"/>
                </a:solidFill>
                <a:latin typeface="Calibri"/>
              </a:defRPr>
            </a:pPr>
            <a:r>
              <a:t>AIに質問・指示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チャットで質問したり、</a:t>
            </a:r>
            <a:br/>
            <a:r>
              <a:t>要約・分析・比較</a:t>
            </a:r>
            <a:br/>
            <a:r>
              <a:t>などを依頼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10241280" y="1463040"/>
            <a:ext cx="731520" cy="73152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63238"/>
                </a:solidFill>
                <a:latin typeface="Calibri"/>
              </a:defRPr>
            </a:pPr>
            <a:r>
              <a:t>成果物を活用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9260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音声・動画・スライド・</a:t>
            </a:r>
            <a:br/>
            <a:r>
              <a:t>マインドマップなど多様な</a:t>
            </a:r>
            <a:br/>
            <a:r>
              <a:t>形式で出力・共有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695C"/>
                </a:solidFill>
                <a:latin typeface="Calibri"/>
              </a:defRPr>
            </a:pPr>
            <a:r>
              <a:t>💡 ポイント：NotebookLMはアップロードされた資料のみを情報源とするため、ハルシネーション（AIの誤情報生成）のリスクが大幅に低減されます。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ビジネス活用事例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238"/>
                </a:solidFill>
                <a:latin typeface="Calibri"/>
              </a:defRPr>
            </a:pPr>
            <a:r>
              <a:t>会議議事録の要約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031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長時間の会議録から決定事項・担当者・</a:t>
            </a:r>
            <a:br/>
            <a:r>
              <a:t>期限・未決タスクを自動整理。</a:t>
            </a:r>
            <a:br/>
            <a:r>
              <a:t>議事録作成時間を大幅削減。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486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238"/>
                </a:solidFill>
                <a:latin typeface="Calibri"/>
              </a:defRPr>
            </a:pPr>
            <a:r>
              <a:t>リサーチ・資料の要点抽出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031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複数の資料やWebサイトを一括投入し、</a:t>
            </a:r>
            <a:br/>
            <a:r>
              <a:t>要点を自動抽出。</a:t>
            </a:r>
            <a:br/>
            <a:r>
              <a:t>調査レポート作成を効率化。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238"/>
                </a:solidFill>
                <a:latin typeface="Calibri"/>
              </a:defRPr>
            </a:pPr>
            <a:r>
              <a:t>社内ナレッジベースの構築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75488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部門別のAIアシスタントを手軽に作成。</a:t>
            </a:r>
            <a:br/>
            <a:r>
              <a:t>新人研修やFAQ対応にも活用可能。</a:t>
            </a:r>
            <a:br/>
            <a:r>
              <a:t>URL共有で簡単展開。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486400" cy="22860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3238"/>
                </a:solidFill>
                <a:latin typeface="Calibri"/>
              </a:defRPr>
            </a:pPr>
            <a:r>
              <a:t>企業調査・市場分析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5488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IR資料やWebサイトをアップロードして</a:t>
            </a:r>
            <a:br/>
            <a:r>
              <a:t>企業概要・事業内容を迅速分析。</a:t>
            </a:r>
            <a:br/>
            <a:r>
              <a:t>会議前の準備に最適。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NotebookLM の強み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4572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63238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63238"/>
                </a:solidFill>
                <a:latin typeface="Calibri"/>
              </a:defRPr>
            </a:pPr>
            <a:r>
              <a:t>ハルシネーションが少ない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資料にない情報は「答えない」</a:t>
            </a:r>
            <a:br/>
            <a:r>
              <a:t>制限があるため、AIが勝手に</a:t>
            </a:r>
            <a:br/>
            <a:r>
              <a:t>情報を作り出すリスクが低い。</a:t>
            </a:r>
            <a:br/>
            <a:r>
              <a:t>ビジネス利用に安心。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4572000"/>
          </a:xfrm>
          <a:prstGeom prst="round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63238"/>
                </a:solidFill>
                <a:latin typeface="Calibri"/>
              </a:defRPr>
            </a:pPr>
            <a:r>
              <a:t>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63238"/>
                </a:solidFill>
                <a:latin typeface="Calibri"/>
              </a:defRPr>
            </a:pPr>
            <a:r>
              <a:t>出典が明確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回答には必ず元データの引用</a:t>
            </a:r>
            <a:br/>
            <a:r>
              <a:t>リンクが付くため、情報の根拠</a:t>
            </a:r>
            <a:br/>
            <a:r>
              <a:t>を即座に確認可能。レポートや</a:t>
            </a:r>
            <a:br/>
            <a:r>
              <a:t>提案書の信頼性向上に貢献。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474720" cy="4572000"/>
          </a:xfrm>
          <a:prstGeom prst="round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828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263238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63238"/>
                </a:solidFill>
                <a:latin typeface="Calibri"/>
              </a:defRPr>
            </a:pPr>
            <a:r>
              <a:t>プライバシー保護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アップロードデータはAIモデル</a:t>
            </a:r>
            <a:br/>
            <a:r>
              <a:t>のトレーニングに使用されない</a:t>
            </a:r>
            <a:br/>
            <a:r>
              <a:t>（Google公式発表）。</a:t>
            </a:r>
            <a:br/>
            <a:r>
              <a:t>企業の機密情報も安心。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料金プラン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5F4"/>
                </a:solidFill>
                <a:latin typeface="Calibri"/>
              </a:defRPr>
            </a:pPr>
            <a:r>
              <a:t>無料プラン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63238"/>
                </a:solidFill>
                <a:latin typeface="Calibri"/>
              </a:defRPr>
            </a:pPr>
            <a:r>
              <a:t>¥0 /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✓ Googleアカウントで即利用開始</a:t>
            </a:r>
            <a:br/>
            <a:r>
              <a:t>✓ 基本的な要約・質問応答</a:t>
            </a:r>
            <a:br/>
            <a:r>
              <a:t>✓ 音声解説・動画解説</a:t>
            </a:r>
            <a:br/>
            <a:r>
              <a:t>✓ マインドマップ生成</a:t>
            </a:r>
            <a:br/>
            <a:r>
              <a:t>✓ 個人利用に最適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4754880"/>
          </a:xfrm>
          <a:prstGeom prst="roundRect">
            <a:avLst/>
          </a:prstGeom>
          <a:solidFill>
            <a:srgbClr val="E6F4EA"/>
          </a:solidFill>
          <a:ln w="254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9D58"/>
                </a:solidFill>
                <a:latin typeface="Calibri"/>
              </a:defRPr>
            </a:pPr>
            <a:r>
              <a:t>NotebookLM 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63238"/>
                </a:solidFill>
                <a:latin typeface="Calibri"/>
              </a:defRPr>
            </a:pPr>
            <a:r>
              <a:t>$19.99 /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✓ ソース量が無料版の6倍</a:t>
            </a:r>
            <a:br/>
            <a:r>
              <a:t>✓ ノートブック数が5倍</a:t>
            </a:r>
            <a:br/>
            <a:r>
              <a:t>✓ 年払い $200/年（約16%割引）</a:t>
            </a:r>
            <a:br/>
            <a:r>
              <a:t>✓ 優先サポート</a:t>
            </a:r>
            <a:br/>
            <a:r>
              <a:t>✓ チーム利用に推奨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47472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5100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63238"/>
                </a:solidFill>
                <a:latin typeface="Calibri"/>
              </a:defRPr>
            </a:pPr>
            <a:r>
              <a:t>要問合せ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10896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✓ VPC Service Controls対応</a:t>
            </a:r>
            <a:br/>
            <a:r>
              <a:t>✓ IAMによるアクセス制御</a:t>
            </a:r>
            <a:br/>
            <a:r>
              <a:t>✓ データのリージョン限定保存</a:t>
            </a:r>
            <a:br/>
            <a:r>
              <a:t>✓ 管理者ダッシュボード</a:t>
            </a:r>
            <a:br/>
            <a:r>
              <a:t>✓ 大規模組織向け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利用時の注意点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463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14630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238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63238"/>
                </a:solidFill>
                <a:latin typeface="Calibri"/>
              </a:defRPr>
            </a:pPr>
            <a:r>
              <a:t>機密情報の取り扱い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顧客情報や契約書、個人情報など機密性の高い資料のアップロードは社内規定を確認の上、慎重に判断してください。情報管理ルールの明確化が必要です。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11064240" cy="1463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73152" cy="14630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238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91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63238"/>
                </a:solidFill>
                <a:latin typeface="Calibri"/>
              </a:defRPr>
            </a:pPr>
            <a:r>
              <a:t>最新情報の反映にはソース更新が必要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94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NotebookLMはアップロードされた資料のみを参照します。最新情報を反映するには、定期的にソースを更新・追加する運用が必要です。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6320"/>
            <a:ext cx="11064240" cy="1463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73152" cy="146304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238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029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63238"/>
                </a:solidFill>
                <a:latin typeface="Calibri"/>
              </a:defRPr>
            </a:pPr>
            <a:r>
              <a:t>出力結果の確認は必須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532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ハルシネーションは少ないものの、AIの出力は必ず人間が確認・検証してください。特に重要な意思決定に使用する場合は、出典元の原文も確認しましょう。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まとめ &amp; ネクストステップ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2926080" cy="256032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まず使ってみる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無料でGoogleアカウント</a:t>
            </a:r>
            <a:br/>
            <a:r>
              <a:t>から即開始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011680"/>
            <a:ext cx="2926080" cy="256032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業務資料を投入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918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議事録・マニュアル・</a:t>
            </a:r>
            <a:br/>
            <a:r>
              <a:t>レポートから試す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011680"/>
            <a:ext cx="2926080" cy="2560320"/>
          </a:xfrm>
          <a:prstGeom prst="round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63238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チームで共有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ノートブックをURL共有</a:t>
            </a:r>
            <a:br/>
            <a:r>
              <a:t>して活用拡大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B400"/>
                </a:solidFill>
                <a:latin typeface="Calibri"/>
              </a:defRPr>
            </a:pPr>
            <a:r>
              <a:t>今日からNotebookLMで業務を変革しましょう！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Google NotebookLM 社内研修資料  ｜  2026年3月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